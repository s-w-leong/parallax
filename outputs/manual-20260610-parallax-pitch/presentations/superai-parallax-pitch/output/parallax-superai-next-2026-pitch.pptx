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3ace548a0f46bd" /><Relationship Type="http://schemas.openxmlformats.org/officeDocument/2006/relationships/extended-properties" Target="/docProps/app.xml" Id="R0cdf8744d2c44e35" /><Relationship Type="http://schemas.openxmlformats.org/officeDocument/2006/relationships/officeDocument" Target="/ppt/presentation.xml" Id="R88d5a1a55424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9d7768ff9426f"/>
  </p:sldMasterIdLst>
  <p:notesMasterIdLst>
    <p:notesMasterId xmlns:r="http://schemas.openxmlformats.org/officeDocument/2006/relationships" r:id="R9de69e92d2aa40e8"/>
  </p:notesMasterIdLst>
  <p:sldIdLst>
    <p:sldId xmlns:r="http://schemas.openxmlformats.org/officeDocument/2006/relationships" id="256" r:id="R289605fd26644f59"/>
    <p:sldId xmlns:r="http://schemas.openxmlformats.org/officeDocument/2006/relationships" id="257" r:id="Rf15ddc5ddb284890"/>
    <p:sldId xmlns:r="http://schemas.openxmlformats.org/officeDocument/2006/relationships" id="258" r:id="Rb9b4705107be4c1c"/>
    <p:sldId xmlns:r="http://schemas.openxmlformats.org/officeDocument/2006/relationships" id="259" r:id="Rd4564aa0f88349e6"/>
    <p:sldId xmlns:r="http://schemas.openxmlformats.org/officeDocument/2006/relationships" id="260" r:id="Rffee62d139b44922"/>
    <p:sldId xmlns:r="http://schemas.openxmlformats.org/officeDocument/2006/relationships" id="261" r:id="R561f4cb2cccb4da1"/>
    <p:sldId xmlns:r="http://schemas.openxmlformats.org/officeDocument/2006/relationships" id="262" r:id="Rdee16571557449ce"/>
    <p:sldId xmlns:r="http://schemas.openxmlformats.org/officeDocument/2006/relationships" id="263" r:id="R7dd7676f14f54316"/>
    <p:sldId xmlns:r="http://schemas.openxmlformats.org/officeDocument/2006/relationships" id="264" r:id="R65ed7d08cb1b4269"/>
    <p:sldId xmlns:r="http://schemas.openxmlformats.org/officeDocument/2006/relationships" id="265" r:id="R88d7dfa8511245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514be72df44e1" /><Relationship Type="http://schemas.openxmlformats.org/officeDocument/2006/relationships/slideMaster" Target="/ppt/slideMasters/slideMaster1.xml" Id="R1e99d7768ff9426f" /><Relationship Type="http://schemas.openxmlformats.org/officeDocument/2006/relationships/notesMaster" Target="/ppt/notesMasters/notesMaster1.xml" Id="R9de69e92d2aa40e8" /><Relationship Type="http://schemas.openxmlformats.org/officeDocument/2006/relationships/presProps" Target="/ppt/presProps.xml" Id="R8dfeb6fe6cc646c3" /><Relationship Type="http://schemas.openxmlformats.org/officeDocument/2006/relationships/viewProps" Target="/ppt/viewProps.xml" Id="Rc35a2330babe453c" /><Relationship Type="http://schemas.openxmlformats.org/officeDocument/2006/relationships/tableStyles" Target="/ppt/tableStyles.xml" Id="Rd66d8c66266041dc" /><Relationship Type="http://schemas.openxmlformats.org/officeDocument/2006/relationships/slide" Target="/ppt/slides/slide1.xml" Id="R289605fd26644f59" /><Relationship Type="http://schemas.openxmlformats.org/officeDocument/2006/relationships/slide" Target="/ppt/slides/slide2.xml" Id="Rf15ddc5ddb284890" /><Relationship Type="http://schemas.openxmlformats.org/officeDocument/2006/relationships/slide" Target="/ppt/slides/slide3.xml" Id="Rb9b4705107be4c1c" /><Relationship Type="http://schemas.openxmlformats.org/officeDocument/2006/relationships/slide" Target="/ppt/slides/slide4.xml" Id="Rd4564aa0f88349e6" /><Relationship Type="http://schemas.openxmlformats.org/officeDocument/2006/relationships/slide" Target="/ppt/slides/slide5.xml" Id="Rffee62d139b44922" /><Relationship Type="http://schemas.openxmlformats.org/officeDocument/2006/relationships/slide" Target="/ppt/slides/slide6.xml" Id="R561f4cb2cccb4da1" /><Relationship Type="http://schemas.openxmlformats.org/officeDocument/2006/relationships/slide" Target="/ppt/slides/slide7.xml" Id="Rdee16571557449ce" /><Relationship Type="http://schemas.openxmlformats.org/officeDocument/2006/relationships/slide" Target="/ppt/slides/slide8.xml" Id="R7dd7676f14f54316" /><Relationship Type="http://schemas.openxmlformats.org/officeDocument/2006/relationships/slide" Target="/ppt/slides/slide9.xml" Id="R65ed7d08cb1b4269" /><Relationship Type="http://schemas.openxmlformats.org/officeDocument/2006/relationships/slide" Target="/ppt/slides/slide10.xml" Id="R88d7dfa8511245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51fb40696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29e64a0dc474a" /><Relationship Type="http://schemas.openxmlformats.org/officeDocument/2006/relationships/notesMaster" Target="/ppt/notesMasters/notesMaster1.xml" Id="Rdc8840c34e584e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3014439f8e4a8a" /><Relationship Type="http://schemas.openxmlformats.org/officeDocument/2006/relationships/notesMaster" Target="/ppt/notesMasters/notesMaster1.xml" Id="R138e11a58342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eb8505b664e8a" /><Relationship Type="http://schemas.openxmlformats.org/officeDocument/2006/relationships/notesMaster" Target="/ppt/notesMasters/notesMaster1.xml" Id="Rb5cddf79d43e4c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2b67a81d6b4f60" /><Relationship Type="http://schemas.openxmlformats.org/officeDocument/2006/relationships/notesMaster" Target="/ppt/notesMasters/notesMaster1.xml" Id="Rf8ddb8912d02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84c2ecb53a453f" /><Relationship Type="http://schemas.openxmlformats.org/officeDocument/2006/relationships/notesMaster" Target="/ppt/notesMasters/notesMaster1.xml" Id="Rb28fc06e04f342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825df1c46c4e7c" /><Relationship Type="http://schemas.openxmlformats.org/officeDocument/2006/relationships/notesMaster" Target="/ppt/notesMasters/notesMaster1.xml" Id="R870f1f835f644b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6f59441f574626" /><Relationship Type="http://schemas.openxmlformats.org/officeDocument/2006/relationships/notesMaster" Target="/ppt/notesMasters/notesMaster1.xml" Id="Ra68576c72d104c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fd5ecefaab4fe9" /><Relationship Type="http://schemas.openxmlformats.org/officeDocument/2006/relationships/notesMaster" Target="/ppt/notesMasters/notesMaster1.xml" Id="R9c5a878a857044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17fd13766e4284" /><Relationship Type="http://schemas.openxmlformats.org/officeDocument/2006/relationships/notesMaster" Target="/ppt/notesMasters/notesMaster1.xml" Id="Rf792c4701fa74f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203eeee56041c6" /><Relationship Type="http://schemas.openxmlformats.org/officeDocument/2006/relationships/notesMaster" Target="/ppt/notesMasters/notesMaster1.xml" Id="Ra98e5e3a8aaf4f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78812cc5643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2fe3f3872e45ad" /><Relationship Type="http://schemas.openxmlformats.org/officeDocument/2006/relationships/slideLayout" Target="/ppt/slideLayouts/slideLayout1.xml" Id="Re2b822c7863d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822c7863d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9059d2cd5451a" /><Relationship Type="http://schemas.openxmlformats.org/officeDocument/2006/relationships/notesSlide" Target="/ppt/notesSlides/notesSlide1.xml" Id="R76a2c00f81c8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1c4831584a42" /><Relationship Type="http://schemas.openxmlformats.org/officeDocument/2006/relationships/notesSlide" Target="/ppt/notesSlides/notesSlide2.xml" Id="Ra9b4ef0a78cc4e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ff33fd8254b30" /><Relationship Type="http://schemas.openxmlformats.org/officeDocument/2006/relationships/notesSlide" Target="/ppt/notesSlides/notesSlide3.xml" Id="R98c6246936f74f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cce0f34e7439e" /><Relationship Type="http://schemas.openxmlformats.org/officeDocument/2006/relationships/notesSlide" Target="/ppt/notesSlides/notesSlide4.xml" Id="Rca1148a4cd344d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c6b53150f493d" /><Relationship Type="http://schemas.openxmlformats.org/officeDocument/2006/relationships/notesSlide" Target="/ppt/notesSlides/notesSlide5.xml" Id="R415f31463d964b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aca371f9e4ea8" /><Relationship Type="http://schemas.openxmlformats.org/officeDocument/2006/relationships/notesSlide" Target="/ppt/notesSlides/notesSlide6.xml" Id="R520b689163b647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fb85862394e4e" /><Relationship Type="http://schemas.openxmlformats.org/officeDocument/2006/relationships/notesSlide" Target="/ppt/notesSlides/notesSlide7.xml" Id="R0dc3cba33cd247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61bfa3f264aeb" /><Relationship Type="http://schemas.openxmlformats.org/officeDocument/2006/relationships/notesSlide" Target="/ppt/notesSlides/notesSlide8.xml" Id="Rd4898546783e49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d1a4790e943b9" /><Relationship Type="http://schemas.openxmlformats.org/officeDocument/2006/relationships/notesSlide" Target="/ppt/notesSlides/notesSlide9.xml" Id="R9ebde918c8a14e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4af71f23c4044" /><Relationship Type="http://schemas.openxmlformats.org/officeDocument/2006/relationships/notesSlide" Target="/ppt/notesSlides/notesSlide10.xml" Id="Rf26762bd59d646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D4EC2D-5580-4DC3-A6D5-AAF6C31F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5B202-369F-495C-BBB5-24AE84A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14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C57D6-730C-4C3F-AAF8-125253A2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 NEXT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C82E1-B789-453A-8FCF-49AAB17B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Parallax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F3A24-1AD9-4492-A5A7-E18FC65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An agentic learning app that turns a plain-language STEM question into a safe, inspectable, interactive 3D room.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25EC7-9611-471D-95A4-6F17AFE2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14288">
            <a:solidFill>
              <a:srgbClr val="FF5C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B7CA2-64BA-446A-A21D-76034A7B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666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EF4F9-C1FC-472C-A4CB-7888C19F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Guide Agent owns chat +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1092F-03CA-4698-87D8-776B765D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528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14288">
            <a:solidFill>
              <a:srgbClr val="00A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43C59-2CF5-411F-90A4-3F83414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52800"/>
            <a:ext cx="666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57900-09E4-442C-BDDF-7C33CF9F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290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Builder + Critic artifact workers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86F3E-6B07-4FF2-895F-B905D3A2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14288">
            <a:solidFill>
              <a:srgbClr val="00A7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C744D-2651-4D1A-AF9A-FC62289F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666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91BFB-A571-439E-91E4-F09DCF92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24300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Exa-grounded STEM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96F8B-BF16-4200-8857-AA94255D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14288">
            <a:solidFill>
              <a:srgbClr val="2F9E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5823A-17CC-4BFC-8E3F-5B5FE192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666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2048E-FD11-43D1-9E92-433259DA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924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AWS + Vercel deployed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779EF-7FA5-4ED4-8563-7056C4AA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9B3C3-B5C1-44AA-B62A-EB7D9EB6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214"/>
                </a:solidFill>
                <a:latin typeface="Aptos"/>
                <a:ea typeface="Aptos"/>
                <a:cs typeface="Aptos"/>
              </a:rPr>
              <a:t>Leong Shi Wei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214"/>
                </a:solidFill>
                <a:latin typeface="Aptos"/>
                <a:ea typeface="Aptos"/>
                <a:cs typeface="Aptos"/>
              </a:rPr>
              <a:t>Wong Kai Shen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EF876-0C4E-4DB1-B2B5-4EEB911B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768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0022A-A5D3-4E9B-BBB5-D01E95DC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parallax-hazel.vercel.app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214"/>
                </a:solidFill>
                <a:latin typeface="Aptos"/>
                <a:ea typeface="Aptos"/>
                <a:cs typeface="Aptos"/>
              </a:rPr>
              <a:t>github.com/S-W-Leong/parallax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8A8B3-EA7F-4C62-BBEE-C5B3F90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62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0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B0A6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391C2-AEB8-4C0B-B5A0-39F4BFDB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23950"/>
            <a:ext cx="2628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Top 5 overall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Best Use of Exa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F3715-93EE-445E-98A6-E160F91C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C0BB5-36F2-4941-A79C-E7B6C5D4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1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1D6"/>
                </a:solidFill>
                <a:latin typeface="Aptos"/>
                <a:ea typeface="Aptos"/>
                <a:cs typeface="Aptos"/>
              </a:rPr>
              <a:t>Agentic proof, not a chatbot wrapper.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4933E-82D6-4797-9588-DA12CA93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68DBA-86AF-4B2D-9969-8F8E5B08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06208-707C-48E8-8180-731E0E5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13A7B-0BB4-4F05-9868-DCDD0C4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434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6B101-04F7-4EA4-BF69-C709732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434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2C981C-D901-44CA-8B89-6C6D5489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434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Room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0A1B8-5C37-4373-8A9F-CA03353D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A6E4C60-1AC0-4FEE-9327-D5F80AF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 NEXT brief; Parallax README + architecture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15AF90B-8A48-420C-82AB-4C049214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9583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73AF9F-607A-405E-8598-D6F15209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4073C7-E8F1-4CF4-A00A-443C1653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LEARNING GAP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D18A1E4-A860-4497-AEE5-F7695244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STEM learners get answers, but not explorable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C047E-23B3-43A4-81C3-00559E41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47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Parallax reframes tutoring from response generation to artifact generation: the agent builds the learning environment, then teaches inside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D33DA-A328-41CB-8C91-AF46E092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762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5C16F-B5F2-4F7E-9139-6AF6CD73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762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842A9-A145-4D5E-9ABE-3D44641E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Typical AI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EA128-009A-4EC9-9A35-91D34EC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1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Parallax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C4118-5809-4A33-A489-6093381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7C0C8-9A80-4FCA-87E7-E85EA3E4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63A92-1E3B-4B1B-B806-CC808DF6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90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Learner asks a hard STEM topic.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4B510-B702-41BD-AFE1-745495D2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41DF0-6997-4608-9D48-FB2ACBE4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02C97-F940-4A3C-9533-79EAEB53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86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Model explains from one angle.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1A5E3-D9EE-4CCC-98C1-E6219DC9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EE457-F565-42FA-8E21-1D9CD82E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F6269-2E92-49C0-BD2C-45B9C489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81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No spatial model, no manipulation, no visible tool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ED929-6237-49D1-BFF8-E970AE98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3CC62-508B-4081-B9F2-9D492323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D2AD3-2888-4070-8D03-7393F88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Learner asks normally.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C30E8-9E48-46F0-ADB5-1F6A96C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9E712-E4AE-4284-B28E-9907E604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19A12-F203-41AD-9D00-CCFC756C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Agent researches, creates, validates, and critiques a room.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1E4F4-89B4-4390-902F-D2A26622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26F9E-FB19-4841-9E50-CD76E8ED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815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451D0-0FF4-466F-B024-71993CDA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Tutor uses selected component and step context to guide the learner.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C9C7A-F3E6-4408-949F-C95BB880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481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A6C77-F0CB-462F-9EBF-F0E097D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62350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5C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5C39"/>
                </a:solidFill>
                <a:latin typeface="Aptos"/>
                <a:ea typeface="Aptos"/>
                <a:cs typeface="Aptos"/>
              </a:rPr>
              <a:t>agentic</a:t>
            </a:r>
          </a:p>
          <a:p xmlns:a="http://schemas.openxmlformats.org/drawingml/2006/main">
            <a:pPr algn="ctr">
              <a:defRPr sz="1050" b="1">
                <a:solidFill>
                  <a:srgbClr val="FF5C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5C39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F7774-7928-4401-A427-E0320FED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5C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5C3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800A30D-1FF2-49BD-ABBB-43249373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3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3012D60-CA0F-42D0-BDAB-8C770AE4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Parallax README; product framing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68C2986-79EB-4A58-A866-D950FDA5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8809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DC60FE-324D-4E35-84F8-DC3C9AF5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C845EB-2FF9-4D8C-93A7-EF82A40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AGENT OVERVIEW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89434C3-6EFF-4F9F-8B34-2719BF89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One Guide Agent owns the journey; hidden workers build the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77BFC-5D08-443B-A64E-42AA5D2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47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The user sees a single coherent guide. Under the hood, specialist artifact workers produce, validate, critique, and repair complete learning rooms.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E775A-5BDD-44BD-A10E-7EF5BE1A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F2B7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55419-9C3C-4880-B194-30B325E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6E581-849A-488E-B997-519AAB6F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Learner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2E120-5189-47D8-A080-200C395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676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Asks a STEM question or requests changes in the active room.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D2B87-2A63-4DF3-AB23-A374FCD1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13335">
            <a:solidFill>
              <a:srgbClr val="FF5C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EE21B-850B-438E-81F0-2B14EC5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81DB0-9E7B-46F7-B3B9-C11B7BBC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7EEB6-FBB6-48CD-9781-0CB57636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2247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Routes normal answers, research, artifact builds, and room commands through one user-facing agent.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51279-C610-48C4-99A1-68EBE834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2171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00A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B113F-A214-4417-AAD5-B5963B9B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81220-5C10-4487-919F-ED24749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0507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Builder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0DA58-BB6F-4AF9-AA4C-6C9553CF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1940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Creates sceneSource plus structured metadata for components, steps, controls, and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46F2B-0B3B-4887-916F-EA6DB32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2171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2F9E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43D01-9660-4152-BA81-5B98DA55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9D880-3195-47C7-A2E8-5F04E406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2907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Critic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B0F08-8259-475B-8AE8-41C62CDD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Reviews the artifact for educational quality and repair needs before release.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7C395-B00E-4E90-AADF-2A39439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337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FF5C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788BE-227A-48DE-B2BA-F04AB0F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337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B2626-8C46-4CC5-AB7E-832AC005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765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Learning Room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26487-EEA7-4521-AB1D-CC7869F5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90900"/>
            <a:ext cx="1371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Sandboxed Three.js iframe plus room-aware chat and typed postMessage commands.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06B567-68FD-42B3-AD24-28BCB3EF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147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63AC5-F587-4B74-A356-B63088D8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00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EE51F-C298-4C6A-96FF-D8370E4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A7878-E2EB-4542-8359-6FD9D7E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9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51FE0-8412-49A3-A068-32C53352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3C101C-1DAD-448E-80BF-CB38BEF7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765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7E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7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4D999-3BDC-4BCF-A911-483EEC0E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4B067-0B51-4627-BE7B-8FD81432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55EE6A-ED2D-431C-9B4C-9EBCED99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59811-C134-48F2-9042-ACA1AB3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339681-A96B-4C65-AA8C-0A189688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48200"/>
            <a:ext cx="2609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C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25EF8-8CDA-470C-895B-0D6498F7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00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Visible to judges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AF5C5F-7DEB-448A-BA6F-47103CB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10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 trace of planning, tool execution, validation, and artifact commands - without exposing hidden chain-of-thought.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BE4686-E3E3-4E8B-A281-C233EDEF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3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6F6FFFC-6203-4216-B838-E0011BB0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docs/parallax-architecture.md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121511-5360-4293-AD07-94DBA45E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343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A20433-C48D-4CF9-8527-2990ABAD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D70885-57CD-46C0-8F6C-6B2BDF2D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FA217DC-CFD0-48D5-9B93-C411FE94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The core loop decides, uses tools, validates, then 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B3701-178F-40AC-ACBD-FF109DD1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SuperAI's rubric asks for autonomy, decision-making, tool use, orchestration, human intervention, and recovery. Parallax can point to each state in one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1CC5B-31A7-4FCE-AA9D-EFA33469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21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F5C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1C71C-A262-423B-86BD-86539DE4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D9765-A4E3-46CB-AB90-1C4A684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C3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5C39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7FE27-06BC-4886-91CB-AAB09B7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B83D0-2DC0-4699-8A6A-0299D04A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User intent, active component, active walkthrough step.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F80FE-5DD0-4401-BF8C-DA398711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62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3CFD3-FDB2-4CC8-9171-E61DB845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48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B7676-17AF-45F3-9899-CC96CC61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62250"/>
            <a:ext cx="121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F5C3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41FB0-D589-4FF7-8EC1-0AE6394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622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D0D63-3CB8-42A3-B811-99D68EE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C3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5C39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01C9D-549D-451D-8380-D53C637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72E13-1E23-4CE9-BE98-4287AF03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Guide decides: answer, research, build, command, or rebuild.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D910D-FB79-4FF6-80C8-6877A8B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62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5E376-90B0-431C-BC40-F21D8931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2E628-802B-4C25-A37E-05049E7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62250"/>
            <a:ext cx="121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00A7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99CA8-B3E9-4DF6-AE06-B1786A18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622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516FC-807C-4A40-B38E-E341304F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7E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7E1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CDFE6-87C2-46A0-BE31-7A84A152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79A12-490E-4C1A-9D07-02ABD02D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Exa grounds niche/current STEM context when needed.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22226-D127-4437-9100-550D0F18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62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4852A-CFA8-400A-AD9C-A6E2D92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48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A37CF-60D0-4999-810B-ED858D0F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21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F5C3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54D2B-9AC5-4D51-A713-B14DE28C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5E409-01AC-48FA-9A4A-ED189D0E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C3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5C39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5909E-291D-4379-9190-7E4B62C9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6AA61-BFC4-49D6-BE00-7930A3F1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1000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Builder creates a complete Three.js room contract.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59B1BF-8B9B-474B-8DCA-9FBB02AF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D20FEE-456A-4160-B9BC-AEEA217E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48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644561-1D68-4EAA-ABE6-DAF84A9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121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2F9E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236408-25C3-4D77-899A-47536472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7078ED-947F-46A1-ACA7-D0220B68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5486B4-36AE-4E69-BE4F-50202DA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653915-8F08-49D5-B780-F54851B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Static checks reject unsafe or incomplete scene code.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E36653-DB67-4732-81B1-3E1F5EC7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624EA0-2C82-4F6A-91B8-156C068D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7CEA36-767D-4751-8790-CC9C661C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121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2F9E4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09F173-34E7-4B98-8076-32F78A3C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F3AFC1-6938-4B76-BA95-33A2BE04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5BE12B-6599-49DA-BDFE-6A9EAE57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Critique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706129-D70D-4350-BDAF-6A292F4E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Critic approves or sends repair feedback.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B3337C-F88C-4ED7-9FDB-D0589C6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BC4A54-5888-4408-AE97-9C2E7A17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48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7008C6-CD49-43AE-96BB-8A4BDF00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121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7A323B-3962-43E9-AB61-33DF595D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DDDBC9-41D3-48D3-B6E2-185E1A2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60406E-D1CD-42F0-9E94-3CD50892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67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60DF87-ECD7-43D1-AE85-25F93BDA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10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Guide focuses components, advances steps, or swaps the artifact.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CBFAC1-9D85-4619-BBF3-68174C5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C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31A610-7B72-46EC-B446-BA096D8F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Agentic core = real loop + real tools + visible recovery.</a:t>
            </a:r>
          </a:p>
        </p:txBody>
      </p:sp>
      <p:sp>
        <p:nvSpPr>
          <p:cNvPr id="5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F717E02-333E-425B-9721-499EFF55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5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7AE2735-C1F8-44C4-94F0-49848421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 judging criteria; Parallax architecture</a:t>
            </a:r>
          </a:p>
        </p:txBody>
      </p:sp>
      <p:sp>
        <p:nvSpPr>
          <p:cNvPr id="5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66BF057-A805-42DD-B803-5BEF5C79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2936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AA8D8F-B63C-43E9-B68A-F09D051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C3BE9C6-EFDA-498A-9A5E-164F4B5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PRODUCT PROOF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9C03C94-4FB7-4309-AA21-9C1C315F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The demo is the transformation: prompt -&gt; proposal -&gt;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8BD31-CB57-423B-8F79-AA171E65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A judge should be able to understand Parallax in one recorded journey: ask a concept, watch the agent build, then teach inside the generated scene.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7CA1B-FBA1-4C3A-B736-5DB587D3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3257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F18F1-65A6-4056-B527-96D6A51C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33F95-999E-4C8E-90F9-02D1E54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Ask naturally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04164-6960-4752-B3C7-15D926F8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838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14288">
            <a:solidFill>
              <a:srgbClr val="D8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9AA05-2314-43DF-9286-624965EA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53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4FF8F-B344-4C93-8C41-4A7B049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253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FE258-12BC-4AB9-902C-7160B66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PLACEHOLDER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chat prompt screenshot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8BA91-DC30-4F6E-83C4-CE7CBB2B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3257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D8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51D18-73D9-4C0A-B871-54718049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3B916-C391-4445-A36C-6B849EC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Agent proposes 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F51A3-D5B5-4E5B-ADDD-78A66A14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71850"/>
            <a:ext cx="2838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14288">
            <a:solidFill>
              <a:srgbClr val="D8CE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29709-80DC-4AF2-8642-69C2FEB7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53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6D645-49B0-416E-ADBA-9EFB99F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81550"/>
            <a:ext cx="253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7F19B-31D2-4006-A61D-E043F79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52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PLACEHOLDER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artifact proposal screenshot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41202-A742-4952-8EEE-D72543B2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3257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11430">
            <a:solidFill>
              <a:srgbClr val="FF5C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D285E-F14D-4813-A964-6E37650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C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5C3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F5818-3CC6-47A1-A782-71A1FC48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Learn inside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08EBB-DB4F-49F8-9F28-65D89BFA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838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14288">
            <a:solidFill>
              <a:srgbClr val="D8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CA831-98EA-45A6-912A-C6B5D79D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253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37F69-5034-469F-BD1E-88227476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253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46888-F16E-4B52-A37D-B8160E41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52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PLACEHOLDER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3D learning room screenshot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E919A-D07A-4FFA-B78D-3FB2511B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Stage principle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3E398-DFE7-43C3-9541-99519116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5310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Show the agent doing work quickly: trace, artifact validation, and room control should be visible in the recording.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B19BDF7-B964-4C69-A152-26202617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807686B-F184-4547-A25D-0FB5A454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Parallax README; user requested placeholders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C732E40-D29A-4FC5-B10B-27CC832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59176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1E92D5-61A6-4158-94ED-2F536F30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08C1CE-6CF5-4DE5-BDD5-136B9AED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76AC93A-4125-4B48-A7ED-551642D2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Parallax agents do real work through tools, not just chat.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2FE68-77BA-4388-B019-FF34A8ED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The judging rubric maps directly to inspectable tool paths: retrieval, artifact generation, validation, critique, persistence, and room commands.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C5BA4-6364-4A28-B577-85E6344B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31638-FC6B-4EEA-9D53-CCF2A6E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Tool /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69571-EC5C-4D52-B5FC-694E7530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72A4C-36D6-4BDD-85A9-8D5AA70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6525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EA761-EA9C-4747-8EEB-E8391B0D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B35ED-D3B7-4BDA-B5BF-90E8BA9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6525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Rubric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AEDC6-D3EE-4795-855F-AC8BAEC6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E80C3-E059-4D9A-B2A1-7E66FC2E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research_stem_topic + Exa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7B09C-48C8-412F-84D2-7BCC12BE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7180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B5E08-48E9-4C44-9937-D270505B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7657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Grounds niche/current STEM topics in live web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1592E-8041-4942-A77C-9FB9C025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FC7DC-6C19-4D60-BC61-368B9743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657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Best Use of Exa; tool selection.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EE249-65D3-43FA-8FBE-DEA8014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A516C-83BB-4DDE-B098-83E4FBC0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build_learning_artifact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96E4D-5D32-41B1-8BA3-33BA5274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2E55D-D507-4529-A728-8B064DB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290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Guide delegates a complete lesson plan to hidden artifact workers.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1611E-0C9E-4C57-A195-C919DCFB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C2898-2341-4C84-8237-53E635A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Orchestration; autonomy.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C8A0F-FD85-427F-A277-B8C822D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9FBA4-0031-444C-B9CC-7BF41BE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create_experience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771B8-A1BE-41EE-81BC-B732E20E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0B3BDB-E0E5-487C-9979-6ACF5A7D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8147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Creates sceneSource, components, walkthrough steps, and outcomes.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518EF-4FAB-42F7-B991-5B33D390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FA25B-78AB-473D-A236-C9384EEB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8147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Real action, not prose.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65A43A-9EC0-4901-9E1F-5E866C00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70E21-4ADC-4FA9-BD73-9EB19B23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artifact validator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CE511-480B-47C4-A733-E35B3AD2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2915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805B6-3EFB-428A-8B0E-9FED809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339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Rejects unsafe code, missing components, bad mode rules, and network escape hatches.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02CFF0-A8E7-4531-B475-97A5826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291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0CBFA-E2E0-4CAA-B9C4-FACC2BF8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339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Failure handling.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AAF965-9E16-4469-8F57-BD8F084F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670AA0-547B-492F-929B-DF86FE6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send_artifact_command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3E9BDF-CB95-418E-9A06-12517CB0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FF93C-744D-41B0-9F56-60210A2E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637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Focuses parts, advances steps, toggles labels, resets camera, or rebuilds.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FA56B5-0320-49DD-9176-4F2D26AC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816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7620">
            <a:solidFill>
              <a:srgbClr val="D8CEC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ED561-D595-456F-A860-B44B8052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8637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Agent acts inside environment.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F21E41-A599-4D0E-A64A-62C78F92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534A0B-2794-4167-B02E-8087F40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Stripe is not claimed; the deck targets Top 5 overall + Exa where Parallax has real fit.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7F7854C-6C19-4D3E-B1C3-05B7012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4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FA2AE90-A98B-47E7-AD0C-C977760F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 judging criteria; README; docs/parallax-architecture.md</a:t>
            </a:r>
          </a:p>
        </p:txBody>
      </p:sp>
      <p:sp>
        <p:nvSpPr>
          <p:cNvPr id="4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012462-4BEC-4B9A-BD10-036A3435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7703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95DC5B-6A82-4016-859F-90238C3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2800B12-A4AD-4A6E-9BB5-B512131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3F46146-A759-4E31-A029-9CE9C693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The deployed system keeps agents, storage, and generated code in clear trust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EED12-FBAA-415E-83CB-A124E1FD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Parallax is not a free-form page generator. The model produces scene source and metadata; the app owns validation, runtime, persistence, and message contracts.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58CA1-1DCC-4471-B42A-60486990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038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F2B7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EE7CC-2623-41DC-A129-DBB373E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6FFB-D45D-4A33-9531-19EBBC71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8555C-22A3-423E-BEF3-81488456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Threaded chat, proposal cards, learning room, sandboxed iframe.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135EC-2C74-4853-BF65-4F7C58CD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38450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FF5C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FACB5-A51D-40ED-AD1E-E603522C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38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E0F8C-E72C-4B04-9A8A-4CDFCA9C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Vercel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0F06F-DBEC-4B1B-AE3E-D1CAF6F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95650"/>
            <a:ext cx="1733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Single /api/agent route plus thread and artifact APIs.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87FF9-9E03-4E7E-B6A3-1A0F1EC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43150"/>
            <a:ext cx="2266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13335">
            <a:solidFill>
              <a:srgbClr val="FF5C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92DAF-91EC-4776-B627-A28FB0CE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43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69D88-8981-418A-977F-2119ABA3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860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80FDF-768E-4F13-A86B-15299F5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0350"/>
            <a:ext cx="1943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OpenAI Agents SDK session with research, build, and command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F84CF-3312-48FF-A566-58FFDC6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2266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2F9E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6F5B3-D0D9-4B5F-9941-65F2F89D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CF51B-77C8-477A-8E0A-F1844AF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005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Builder + Critic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93B32-9D0E-4CBC-806B-533B9596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1943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Hidden workers create and review complete replacement artifacts.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1CCDB-A24C-4297-B063-406046A8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3335">
            <a:solidFill>
              <a:srgbClr val="2F9E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23666-CFB3-486D-978F-10CB0D04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9E169-EE46-4598-B468-8F5B33C3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8132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00977-319B-4644-AEA9-5C27129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95650"/>
            <a:ext cx="192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DynamoDB stores threads and metadata; S3 stores generated artifact payloads.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44418-9127-4CB3-8CA0-E19B5215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250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C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FA7BD-888E-493D-A8C4-F5256890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577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7E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7E1"/>
                </a:solidFill>
                <a:latin typeface="Aptos"/>
                <a:ea typeface="Aptos"/>
                <a:cs typeface="Aptos"/>
              </a:rPr>
              <a:t>Exa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F8A1F-6ADD-4C56-8A63-B7565931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482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live retrieval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73696-EC7D-4A22-B88D-1ED5D6D8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DE0A5-E95D-43E3-B8BB-4940CE42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7632F-6791-46E0-BA1A-0C02396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Three.js + typed postMessage bridge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54C214-C5BC-4091-BEE6-E39EF17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0918F-B3F1-470A-8C5C-4EC30D17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36DCB-EA31-4FF1-9033-B96CBC36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F638B9-4610-403E-8A5B-A7D2BD21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5C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5C3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37CD3-66FA-442E-AC75-7B6DE83D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04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CADE4F-D01D-4605-8830-C6138ACF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2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95A859-8B23-42A7-9B0C-B50F4A8B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44D634-55BE-463E-AE58-7EAEA2BC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AAF5B2-48A7-4D65-8BB9-EC946FB4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957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7075F8-C758-4603-A3ED-B9608AA7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A7E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A7E1"/>
                </a:solidFill>
                <a:latin typeface="Aptos"/>
                <a:ea typeface="Aptos"/>
                <a:cs typeface="Aptos"/>
              </a:rPr>
              <a:t>optional retrieval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590E5A-6631-4B7F-B1B6-2D9D7E99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FE892B-6399-4041-9F90-428CF4D4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5910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57C93C-F967-425F-BDA4-152F306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trust boundary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32CC67-1092-4229-B907-BF9C211C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0858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BBE410-6E8A-45A6-9BE3-F320A0B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4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3D8F51D-F1CD-4590-BC06-5A26F44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docs/parallax-architecture.md</a:t>
            </a:r>
          </a:p>
        </p:txBody>
      </p:sp>
      <p:sp>
        <p:nvSpPr>
          <p:cNvPr id="4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63E81D-5DDE-4AC4-9544-F742483C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9227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7D45FA-897A-4E27-AB1E-31C302C3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5B91B80-69BD-460E-9823-B22D31E2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RESILIENCE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9286F93-E9D5-4D9F-BA44-B3514F96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Failure handling happens before generated code reaches the learner.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680D9-221F-4B87-8E38-BA736979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The safest pitch is not that generation never fails. It is that Parallax has explicit recovery paths, typed commands, and user-visible fallback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E6F85-317D-4DB9-8C9A-E8B589EE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335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F5C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C095A-BCAF-498C-855F-6C1DAA79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33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66D5D-BC3E-4F3D-BB3B-86BA5CD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Generate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1309F-DA07-4FEB-A84E-EAF23A06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Builder returns sceneSource + 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FC736-30C9-4156-9D70-D0DC6717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111BF-B19D-4A4F-BA6F-5F387A75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718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0E729-9835-45AA-8506-094B6043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17335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DC233-A073-441A-8A60-A531D9B2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1733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D67ED-540D-4F01-BBFD-74581D5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67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A26DD-F3CD-4D8B-B8F0-7A454E88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Static checks reject unsafe APIs, missing calls, syntax errors, and contract gaps.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83AFA-2C38-4E61-9362-A37147B6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08E91-2C01-433C-B88B-1251F75D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D7080-8850-4D61-8C36-08F47FF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7335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FFE0B-2A14-4F0A-8FFA-19F3ECAA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733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C3159-6699-4E5B-89A0-A2841FA4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89A30-6B89-471C-955C-7E578D83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Builder receives validator feedback and repairs once when possible.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316A7-D896-46EB-B6CB-43815C3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86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BAC84-8DBC-4C98-9922-7E979561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6C079-EF6D-4E4C-9BA7-65D7CA5A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7335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2F9E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41464-3280-4393-A34E-9D75686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733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5E80E-7DC5-49C8-81EF-9A5137E2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Critique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98BEC-53E8-4715-9D55-2FA760CC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Critic reviews educational quality, clarity, and component behavior.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D74D5-CFB3-4303-B883-8613F9B3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8A208-246E-4822-AA1E-70F28E9A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18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CE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CEC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67D0E-8916-45BA-98BF-59B9AC4E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17335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11430">
            <a:solidFill>
              <a:srgbClr val="00A7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EB7766-AA08-4959-BE17-94AEB4AE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1733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3D1EC8-6457-4E37-A4CA-49A2BE06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Release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1C5617-8C11-454C-9527-56DB5AD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Approved artifact uploads to S3 and appears as a proposal card.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44A325-46C1-455E-89EB-6B4B2EF1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4152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C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C2E17-F41B-4050-9CE2-94223D4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Human-in-the-loop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386D31-B2D0-4B3E-A41C-037AD98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The learner can inspect the proposal, enter the room, ask for focus/step changes, or request a full rebuild.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1EF366-EBEE-49A0-B57C-BAC18FF7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4152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C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19558E-8A0F-4E14-B20C-A5F3D70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Failure surface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913C90-1699-4D7A-BA8A-96534F27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4350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If validation or critique blocks release, the route persists and displays a build error instead of running unsafe code.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8A4467D-A60C-4292-8A2F-FD108814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4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B0D6E37-B347-4DB8-8870-D9118AD9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README; docs/parallax-architecture.md</a:t>
            </a:r>
          </a:p>
        </p:txBody>
      </p:sp>
      <p:sp>
        <p:nvSpPr>
          <p:cNvPr id="4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28F2915-4655-4A97-B3A7-904E2DDC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3760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51AD7C-ED79-4434-99F9-C3D48C1C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91C99E4-C8BE-4638-9D46-F3514F0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FINALIST DEMO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1B578AD-07B3-4472-8B91-9539721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The stage pitch can comply with the no-live-demo rule and still show the agent working.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C4479-C28D-48BA-8EF5-981FB81E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 finalist slides are locked at submission and live demos are prohibited. This slide is built around the required embedded recording.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0F5A-D721-46D1-A8BB-81209F13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57721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14288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4F80B-C908-4EF6-9558-8A394B1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5467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648D7-0C06-4E7C-A3F3-05138D05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5467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5BE6E-7051-4A6B-8647-BA480A18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531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EMBED 60-90 SEC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SCREEN RECORDING HERE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Do not link to YouTube or external video.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C1B76-7FEA-432A-8433-E865E8F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90800"/>
            <a:ext cx="36766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D9B04-76DF-4578-B2B5-91CF33E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90-second recording 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BF893-3113-4DC4-ADE6-47A737F9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385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7D3B0-CC92-4B2A-99F1-30BB577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52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61B45-004C-4ACF-92DA-FCEFB286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Open with the learning gap.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8F99F-B465-4E14-A4E0-CE76F10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623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0F32C-2D9B-4072-BB67-8AF5714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0:12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42B21-4FE2-44EF-8D9F-4430FE67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766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Enter a STEM prompt in chat.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E121C-641B-45C9-B8D9-2E3A977F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862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EFE55-D232-4C41-A4A4-BC45B51F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0:28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F4459-75F5-4B9F-A7B0-1319B8B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Show agent trace: research, build, validate, critique.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10687-18DE-4B2B-B558-11A4AD2D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00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3692D-37A8-411E-8DB5-83A3BBD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0:48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837D9-AE2A-475F-9FD0-ADE7D8F9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243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Open generated 3D learning room.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9844D-55D6-4336-BE3A-16604EF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339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17CD4-529A-452B-AE68-C272981A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1:08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FA4AF-603E-45DE-9D3C-68B820D5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Ask Tutor to focus a component and advance a step.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464C9-0720-4CFE-A3DC-02A2919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577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3DCD4-EBCB-4453-9C48-EB2D8DC9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720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1:25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B9F13-BEF2-4D97-A8A5-95079E37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720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63" b="0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D1C8"/>
                </a:solidFill>
                <a:latin typeface="Aptos"/>
                <a:ea typeface="Aptos"/>
                <a:cs typeface="Aptos"/>
              </a:rPr>
              <a:t>Show recovery path or rebuild request.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12CB99-885A-4EF0-B85C-6524A50F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F5C3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F5DE4-B2CF-4141-B8A1-26452C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626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5C3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5C39"/>
                </a:solidFill>
                <a:latin typeface="Aptos"/>
                <a:ea typeface="Aptos"/>
                <a:cs typeface="Aptos"/>
              </a:rPr>
              <a:t>Submission constraint: replace the placeholder with embedded media before uploading the locked .ppt/.keynote file.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B3F2F86-0217-4375-B339-F7FF6889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3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91FB0B9-B8B2-4AC8-A208-AACAD42E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 NEXT submission rules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5BFD438-CA98-4C08-AFA7-CB45E4AA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3615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D2C042-5D84-4921-A564-B174686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8A74C4-E7D0-480A-A1D7-2391DF7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65D"/>
                </a:solidFill>
                <a:latin typeface="Aptos"/>
                <a:ea typeface="Aptos"/>
                <a:cs typeface="Aptos"/>
              </a:rPr>
              <a:t>PRIZE FIT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B5C304C-59B5-47FB-958B-BB642C79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214"/>
                </a:solidFill>
                <a:latin typeface="Aptos Display"/>
                <a:ea typeface="Aptos Display"/>
                <a:cs typeface="Aptos Display"/>
              </a:rPr>
              <a:t>Parallax is built for Top 5 plus Best Use of Exa.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5047E-BF53-4053-B121-D9B41702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The pitch does not depend on broad AI promise. It shows an agent that plans, uses tools, creates a working environment, handles failure, and teaches through visible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98867-6AA8-484E-81EF-D1FA41C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F5C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B7BE2-888A-4735-A27A-ADF33BE6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26D2D-20BE-4CAE-BD1C-3AEB470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Agent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CD493-3F88-4234-8320-BD8788D3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813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Single Guide Agent with hidden Builder/Critic artifact workers.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5DEC-D899-4CB7-80C2-5748023B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0A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75188-5994-4870-B11E-0141E6B8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E1"/>
          </a:solidFill>
          <a:ln xmlns:a="http://schemas.openxmlformats.org/drawingml/2006/main" w="0">
            <a:solidFill>
              <a:srgbClr val="00A7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DE718-FF2F-4C62-A82F-52174D84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E2467-83B2-4595-B028-2A92EC3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623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Chooses between answer, Exa research, artifact build, room command, or rebuild.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BA2BB-09A8-4B2B-BB5D-5913ECCF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51695-0F53-4D08-AD4A-3780F02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60FC6-F5AB-428F-BA03-80AE0CA4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Tool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0C4B3-5C33-4539-BAF9-1B3F22F5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434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Exa retrieval, artifact creation, validation, critique, S3/DynamoDB persistence, postMessage commands.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FAAAF-DA68-47A3-BD4A-CE1F408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2B7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82957-129F-4109-800E-A7526E3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712CA-CBBE-4318-9B58-54449B11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Human-in-loop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CC7BD-AE85-4917-A68E-77C978C4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Learner accepts proposal, selects parts, asks for focus, step changes, or replacement rooms.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0A6B0-74CF-4B53-9075-6C1EDDA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2F9E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C37E3-5F43-4D0B-93EB-3018DF23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B4330-D09E-4E5C-B60E-DF44AF5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Failure handling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D4603-052C-4805-BFAB-2FB38A3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Static validator, sandboxed iframe, repair loop, build-error fallback.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27D6D-F3E6-423F-9B5E-5DF9262B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F5C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9BD0B-574C-41D5-BA0D-4CBB4523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0">
            <a:solidFill>
              <a:srgbClr val="FF5C3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CFC45-21B0-4EFF-8EB6-805EC8A0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214"/>
                </a:solidFill>
                <a:latin typeface="Aptos"/>
                <a:ea typeface="Aptos"/>
                <a:cs typeface="Aptos"/>
              </a:rPr>
              <a:t>Demo clarity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C6CDF-9C9B-4B50-9B34-E9DFE1E7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434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Recorded prompt-to-room journey with visible trace and 3D room interaction.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E8BCC-F206-4BAD-86B7-97783EB8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89191-0B8D-4A73-BDA0-E14B29C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86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D1C8"/>
                </a:solidFill>
                <a:latin typeface="Aptos"/>
                <a:ea typeface="Aptos"/>
                <a:cs typeface="Aptos"/>
              </a:rPr>
              <a:t>Live 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E63CD0-3CDB-46CD-8E0D-85C3EEC6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https://parallax-hazel.vercel.app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55ABDE-B05F-4877-882D-E935019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D"/>
          </a:solidFill>
          <a:ln xmlns:a="http://schemas.openxmlformats.org/drawingml/2006/main" w="0">
            <a:solidFill>
              <a:srgbClr val="1F1F1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C6C78-EFC5-479D-844A-6325B89B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86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D1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D1C8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F8E8B-64CD-4BB9-891A-4CB707F8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7687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github.com/S-W-Leong/parallax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7C34A42-F33D-45BF-B4F1-14B4FB8F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3998FDE-611F-41AC-8D35-787C3BC0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SuperAI NEXT brief; Parallax README + architecture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BD9AA0-D239-4CBB-85C2-83743AF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38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6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6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1023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2026-06-10T11:02:56.9130000Z</dcterms:created>
  <dcterms:modified xsi:type="dcterms:W3CDTF">2026-06-10T11:02:56.9130000Z</dcterms:modified>
</coreProperties>
</file>